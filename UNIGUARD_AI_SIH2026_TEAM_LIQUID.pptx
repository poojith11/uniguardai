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548640" y="621792"/>
            <a:ext cx="8046720" cy="914400"/>
          </a:xfrm>
        </p:spPr>
        <p:txBody>
          <a:bodyPr/>
          <a:lstStyle/>
          <a:p>
            <a:pPr>
              <a:defRPr sz="2800" b="1">
                <a:solidFill>
                  <a:srgbClr val="EA580C"/>
                </a:solidFill>
                <a:latin typeface="Calibri"/>
              </a:defRPr>
            </a:pPr>
            <a:r>
              <a:t>UNIGUARD AI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300" b="1">
                <a:solidFill>
                  <a:srgbClr val="166534"/>
                </a:solidFill>
                <a:latin typeface="Calibri"/>
              </a:defRPr>
            </a:pPr>
            <a:r>
              <a:t>Passive Unidirectional Cyber Threat Intelligence Platform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548640" y="182880"/>
            <a:ext cx="7772400" cy="457200"/>
          </a:xfrm>
        </p:spPr>
        <p:txBody>
          <a:bodyPr/>
          <a:lstStyle/>
          <a:p>
            <a:pPr>
              <a:defRPr sz="1800" b="1">
                <a:solidFill>
                  <a:srgbClr val="0D5C3A"/>
                </a:solidFill>
                <a:latin typeface="Calibri"/>
              </a:defRPr>
            </a:pPr>
            <a: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1645920"/>
            <a:ext cx="91440" cy="91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548640" y="1572768"/>
            <a:ext cx="10972800" cy="27432"/>
          </a:xfrm>
          <a:prstGeom prst="rect">
            <a:avLst/>
          </a:prstGeom>
          <a:solidFill>
            <a:srgbClr val="0D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5870448"/>
            <a:ext cx="1097280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1691640"/>
            <a:ext cx="53492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800"/>
              </a:spcAft>
              <a:defRPr b="1" sz="1100">
                <a:solidFill>
                  <a:srgbClr val="0D5C3A"/>
                </a:solidFill>
              </a:defRPr>
            </a:pPr>
            <a:r>
              <a:t>OFFICIAL PROBLEM STATEMENT DETAILS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0D5C3A"/>
                </a:solidFill>
              </a:rPr>
              <a:t>Problem Statement ID: </a:t>
            </a:r>
            <a:r>
              <a:rPr sz="1000" b="1">
                <a:solidFill>
                  <a:srgbClr val="EA580C"/>
                </a:solidFill>
              </a:rPr>
              <a:t>SIH26145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0D5C3A"/>
                </a:solidFill>
              </a:rPr>
              <a:t>Problem Statement: </a:t>
            </a:r>
            <a:r>
              <a:rPr sz="1000" b="1">
                <a:solidFill>
                  <a:srgbClr val="0F172A"/>
                </a:solidFill>
              </a:rPr>
              <a:t>AI-Based Detection of Cyber Threats in Unidirectional IP Traffic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0D5C3A"/>
                </a:solidFill>
              </a:rPr>
              <a:t>Theme: </a:t>
            </a:r>
            <a:r>
              <a:rPr sz="1000" b="0">
                <a:solidFill>
                  <a:srgbClr val="0F172A"/>
                </a:solidFill>
              </a:rPr>
              <a:t>Blockchain &amp; Cybersecurity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0D5C3A"/>
                </a:solidFill>
              </a:rPr>
              <a:t>PS Category: </a:t>
            </a:r>
            <a:r>
              <a:rPr sz="1000" b="1">
                <a:solidFill>
                  <a:srgbClr val="166534"/>
                </a:solidFill>
              </a:rPr>
              <a:t>Software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0D5C3A"/>
                </a:solidFill>
              </a:rPr>
              <a:t>Team Name: </a:t>
            </a:r>
            <a:r>
              <a:rPr sz="1000" b="1">
                <a:solidFill>
                  <a:srgbClr val="0D5C3A"/>
                </a:solidFill>
              </a:rPr>
              <a:t>TEAM LIQUID (Rathinam Technical Campus)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0D5C3A"/>
                </a:solidFill>
              </a:rPr>
              <a:t>Monitored Enclave: </a:t>
            </a:r>
            <a:r>
              <a:rPr sz="1000" b="0">
                <a:solidFill>
                  <a:srgbClr val="475569"/>
                </a:solidFill>
              </a:rPr>
              <a:t>Critical Infrastructure / Defense OT / SCADA Enclaves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80760" y="1691640"/>
            <a:ext cx="544068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spcAft>
                <a:spcPts val="600"/>
              </a:spcAft>
              <a:defRPr b="1" sz="1100">
                <a:solidFill>
                  <a:srgbClr val="0D5C3A"/>
                </a:solidFill>
              </a:defRPr>
            </a:pPr>
            <a:r>
              <a:t>UNIDIRECTIONAL THREAT INTELLIGENCE HERO FLOW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2148840"/>
            <a:ext cx="5166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b="1" sz="1000">
                <a:solidFill>
                  <a:srgbClr val="0F172A"/>
                </a:solidFill>
              </a:rPr>
              <a:t>[01] PROTECTED NETWORK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Critical Enterprise VPC / Industrial SCADA Enclave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2743200"/>
            <a:ext cx="27432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EA580C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0" y="2898648"/>
            <a:ext cx="5166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b="1" sz="1000">
                <a:solidFill>
                  <a:srgbClr val="0F172A"/>
                </a:solidFill>
              </a:rPr>
              <a:t>[02] PASSIVE OPTICAL TAP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Read-Only Traffic Mirroring • Zero Active Probing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3493008"/>
            <a:ext cx="27432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EA580C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3648456"/>
            <a:ext cx="5166360" cy="59436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b="1" sz="1000">
                <a:solidFill>
                  <a:srgbClr val="EA580C"/>
                </a:solidFill>
              </a:rPr>
              <a:t>[03] DATA-DIODE BOUNDARY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RX ──▶ TX Only  |  Return Path Blocked ✕ (0% TX)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0" y="4242816"/>
            <a:ext cx="27432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EA580C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17920" y="4398264"/>
            <a:ext cx="5166360" cy="59436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b="1" sz="1000">
                <a:solidFill>
                  <a:srgbClr val="166534"/>
                </a:solidFill>
              </a:rPr>
              <a:t>[04] UNIGUARD AI ENGINE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27 Flow Features • 4-Class ML + Isolation Forest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4992624"/>
            <a:ext cx="27432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EA580C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0" y="5148072"/>
            <a:ext cx="5166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b="1" sz="1000">
                <a:solidFill>
                  <a:srgbClr val="0D5C3A"/>
                </a:solidFill>
              </a:rPr>
              <a:t>[05] SECURITY TELEMETRY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Real-Time Threat Alerts • SHA-256 Forensic Ledger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548640" y="164592"/>
            <a:ext cx="8412480" cy="502920"/>
          </a:xfrm>
        </p:spPr>
        <p:txBody>
          <a:bodyPr/>
          <a:lstStyle/>
          <a:p>
            <a:pPr eaLnBrk="1" hangingPunct="1" algn="l">
              <a:defRPr sz="2000" b="1">
                <a:solidFill>
                  <a:srgbClr val="0D5C3A"/>
                </a:solidFill>
                <a:latin typeface="Calibri"/>
              </a:defRPr>
            </a:pPr>
            <a:r>
              <a:t>PROPOSED SOLUTION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548640" y="621792"/>
            <a:ext cx="8412480" cy="32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tIns="0" bIns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  <a:defRPr sz="1000" b="1">
                <a:solidFill>
                  <a:srgbClr val="EA580C"/>
                </a:solidFill>
                <a:latin typeface="Calibri"/>
              </a:defRPr>
            </a:pPr>
            <a:r>
              <a:t>CORE ARCHITECTURAL INNOVATIONS &amp; END-TO-END UNIDIRECTIONAL FLOWCHART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 sz="850">
                <a:solidFill>
                  <a:srgbClr val="475569"/>
                </a:solidFill>
                <a:latin typeface="Calibri"/>
              </a:defRPr>
            </a:pPr>
            <a:r>
              <a:t>@SIH Idea Submission — UNIGUARD AI | TEAM LIQUID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0D5C3A"/>
          </a:solidFill>
          <a:ln w="19050">
            <a:solidFill>
              <a:srgbClr val="EA580C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TEAM LIQUID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Rectangle 15362"/>
          <p:cNvSpPr/>
          <p:nvPr/>
        </p:nvSpPr>
        <p:spPr>
          <a:xfrm>
            <a:off x="548640" y="960120"/>
            <a:ext cx="10972800" cy="27432"/>
          </a:xfrm>
          <a:prstGeom prst="rect">
            <a:avLst/>
          </a:prstGeom>
          <a:solidFill>
            <a:srgbClr val="0D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4" name="Rectangle 15363"/>
          <p:cNvSpPr/>
          <p:nvPr/>
        </p:nvSpPr>
        <p:spPr>
          <a:xfrm>
            <a:off x="548640" y="5870448"/>
            <a:ext cx="1097280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5" name="TextBox 15364"/>
          <p:cNvSpPr txBox="1"/>
          <p:nvPr/>
        </p:nvSpPr>
        <p:spPr>
          <a:xfrm>
            <a:off x="548640" y="1051560"/>
            <a:ext cx="5029200" cy="47091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800"/>
              </a:spcAft>
              <a:defRPr b="1" sz="1200">
                <a:solidFill>
                  <a:srgbClr val="0D5C3A"/>
                </a:solidFill>
              </a:defRPr>
            </a:pPr>
            <a:r>
              <a:t>CORE ARCHITECTURAL INNOVATIONS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EA580C"/>
                </a:solidFill>
              </a:rPr>
              <a:t>01 | </a:t>
            </a:r>
            <a:r>
              <a:rPr b="1" sz="1050">
                <a:solidFill>
                  <a:srgbClr val="0D5C3A"/>
                </a:solidFill>
              </a:rPr>
              <a:t>PASSIVE BY DESIGN — Zero Active Probing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00">
                <a:solidFill>
                  <a:srgbClr val="1E293B"/>
                </a:solidFill>
              </a:defRPr>
            </a:pPr>
            <a:r>
              <a:t>UNIGUARD AI operates strictly on incoming mirrored optical traffic (RX). It enforces 0% outbound packet emission, completely eliminating the possibility of security sensors being hijacked as a reverse attack conduit into critical enclaves.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EA580C"/>
                </a:solidFill>
              </a:rPr>
              <a:t>02 | </a:t>
            </a:r>
            <a:r>
              <a:rPr b="1" sz="1050">
                <a:solidFill>
                  <a:srgbClr val="0D5C3A"/>
                </a:solidFill>
              </a:rPr>
              <a:t>KNOWN + UNKNOWN — Two-Tier Machine Learning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00">
                <a:solidFill>
                  <a:srgbClr val="1E293B"/>
                </a:solidFill>
              </a:defRPr>
            </a:pPr>
            <a:r>
              <a:t>Features a dual-engine architecture: Tier 1 HistGradientBoosting classifies known volumetric DDoS, port scans, and C2 beacons in &lt;15 ms. Tier 2 Isolation Forest isolates zero-day statistical anomalies without requiring labeled training samples.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EA580C"/>
                </a:solidFill>
              </a:rPr>
              <a:t>03 | </a:t>
            </a:r>
            <a:r>
              <a:rPr b="1" sz="1050">
                <a:solidFill>
                  <a:srgbClr val="0D5C3A"/>
                </a:solidFill>
              </a:rPr>
              <a:t>VERIFIABLE EVIDENCE — SHA-256 Cryptographic Ledger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00">
                <a:solidFill>
                  <a:srgbClr val="1E293B"/>
                </a:solidFill>
              </a:defRPr>
            </a:pPr>
            <a:r>
              <a:t>Automatically computes chained SHA-256 block digests over 5-tuple flow parameters, Shannon entropy math, and feature matrices, generating tamper-evident forensic records for audit compliance and incident investigation.</a:t>
            </a:r>
          </a:p>
        </p:txBody>
      </p:sp>
      <p:sp>
        <p:nvSpPr>
          <p:cNvPr id="15366" name="Rectangle 15365"/>
          <p:cNvSpPr/>
          <p:nvPr/>
        </p:nvSpPr>
        <p:spPr>
          <a:xfrm>
            <a:off x="5760720" y="1078992"/>
            <a:ext cx="5760720" cy="47091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600"/>
              </a:spcAft>
              <a:defRPr b="1" sz="1050">
                <a:solidFill>
                  <a:srgbClr val="0D5C3A"/>
                </a:solidFill>
              </a:defRPr>
            </a:pPr>
            <a:r>
              <a:t>END-TO-END UNIDIRECTIONAL ARCHITECTURE FLOWCHART</a:t>
            </a:r>
          </a:p>
        </p:txBody>
      </p:sp>
      <p:sp>
        <p:nvSpPr>
          <p:cNvPr id="15367" name="Rectangle 15366"/>
          <p:cNvSpPr/>
          <p:nvPr/>
        </p:nvSpPr>
        <p:spPr>
          <a:xfrm>
            <a:off x="5897880" y="1481328"/>
            <a:ext cx="5486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b="1" sz="1000">
                <a:solidFill>
                  <a:srgbClr val="0F172A"/>
                </a:solidFill>
              </a:defRPr>
            </a:pPr>
            <a:r>
              <a:t>[1] PROTECTED NETWORK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Enterprise VPC • SCADA/OT Subnet • Defense Telemetry</a:t>
            </a:r>
          </a:p>
        </p:txBody>
      </p:sp>
      <p:sp>
        <p:nvSpPr>
          <p:cNvPr id="15368" name="TextBox 15367"/>
          <p:cNvSpPr txBox="1"/>
          <p:nvPr/>
        </p:nvSpPr>
        <p:spPr>
          <a:xfrm>
            <a:off x="8549640" y="2139696"/>
            <a:ext cx="27432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EA580C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5369" name="Rectangle 15368"/>
          <p:cNvSpPr/>
          <p:nvPr/>
        </p:nvSpPr>
        <p:spPr>
          <a:xfrm>
            <a:off x="5897880" y="2340864"/>
            <a:ext cx="5486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b="1" sz="1000">
                <a:solidFill>
                  <a:srgbClr val="0F172A"/>
                </a:solidFill>
              </a:defRPr>
            </a:pPr>
            <a:r>
              <a:t>[2] PASSIVE TAP / SPAN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Read-Only Optical Splitter / SPAN Mirror Port • 0% In-Line Delay</a:t>
            </a:r>
          </a:p>
        </p:txBody>
      </p:sp>
      <p:sp>
        <p:nvSpPr>
          <p:cNvPr id="15370" name="TextBox 15369"/>
          <p:cNvSpPr txBox="1"/>
          <p:nvPr/>
        </p:nvSpPr>
        <p:spPr>
          <a:xfrm>
            <a:off x="8549640" y="2999232"/>
            <a:ext cx="27432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EA580C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5371" name="Rectangle 15370"/>
          <p:cNvSpPr/>
          <p:nvPr/>
        </p:nvSpPr>
        <p:spPr>
          <a:xfrm>
            <a:off x="5897880" y="3200400"/>
            <a:ext cx="5486400" cy="658368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b="1" sz="1000">
                <a:solidFill>
                  <a:srgbClr val="EA580C"/>
                </a:solidFill>
              </a:defRPr>
            </a:pPr>
            <a:r>
              <a:t>[3] DATA-DIODE BOUNDARY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RX ──▶ TX Only  |  Return Path Blocked ✕ (Software Diode)</a:t>
            </a:r>
          </a:p>
        </p:txBody>
      </p:sp>
      <p:sp>
        <p:nvSpPr>
          <p:cNvPr id="15372" name="TextBox 15371"/>
          <p:cNvSpPr txBox="1"/>
          <p:nvPr/>
        </p:nvSpPr>
        <p:spPr>
          <a:xfrm>
            <a:off x="8549640" y="3858768"/>
            <a:ext cx="27432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EA580C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5373" name="Rectangle 15372"/>
          <p:cNvSpPr/>
          <p:nvPr/>
        </p:nvSpPr>
        <p:spPr>
          <a:xfrm>
            <a:off x="5897880" y="4059935"/>
            <a:ext cx="5486400" cy="65836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b="1" sz="1000">
                <a:solidFill>
                  <a:srgbClr val="166534"/>
                </a:solidFill>
              </a:defRPr>
            </a:pPr>
            <a:r>
              <a:t>[4] UNIGUARD AI CORE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27 Flow Features • 4-Class Supervised ML • Isolation Forest</a:t>
            </a:r>
          </a:p>
        </p:txBody>
      </p:sp>
      <p:sp>
        <p:nvSpPr>
          <p:cNvPr id="15374" name="TextBox 15373"/>
          <p:cNvSpPr txBox="1"/>
          <p:nvPr/>
        </p:nvSpPr>
        <p:spPr>
          <a:xfrm>
            <a:off x="8549640" y="4718303"/>
            <a:ext cx="27432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EA580C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5375" name="Rectangle 15374"/>
          <p:cNvSpPr/>
          <p:nvPr/>
        </p:nvSpPr>
        <p:spPr>
          <a:xfrm>
            <a:off x="5897880" y="4919471"/>
            <a:ext cx="5486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b="1" sz="1000">
                <a:solidFill>
                  <a:srgbClr val="0D5C3A"/>
                </a:solidFill>
              </a:defRPr>
            </a:pPr>
            <a:r>
              <a:t>[5] SECURITY OUTPUTS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Real-Time Alerts • SHA-256 Ledger • Executive Reports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548640" y="164592"/>
            <a:ext cx="8412480" cy="502920"/>
          </a:xfrm>
        </p:spPr>
        <p:txBody>
          <a:bodyPr/>
          <a:lstStyle/>
          <a:p>
            <a:pPr eaLnBrk="1" hangingPunct="1" algn="l">
              <a:defRPr sz="2000" b="1">
                <a:solidFill>
                  <a:srgbClr val="0D5C3A"/>
                </a:solidFill>
                <a:latin typeface="Calibri"/>
              </a:defRPr>
            </a:pPr>
            <a: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48640" y="621792"/>
            <a:ext cx="8412480" cy="32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tIns="0" bIns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  <a:defRPr sz="1000" b="1">
                <a:solidFill>
                  <a:srgbClr val="EA580C"/>
                </a:solidFill>
                <a:latin typeface="Calibri"/>
              </a:defRPr>
            </a:pPr>
            <a:r>
              <a:t>PIPELINE, 27-FEATURE STRUCTURED TABLE, TWO-TIER ML FLOW &amp; PRODUCTION TECH STACK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 sz="850">
                <a:solidFill>
                  <a:srgbClr val="475569"/>
                </a:solidFill>
                <a:latin typeface="Calibri"/>
              </a:defRPr>
            </a:pPr>
            <a:r>
              <a:t>@SIH Idea Submission — UNIGUARD AI | TEAM LIQUID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0D5C3A"/>
          </a:solidFill>
          <a:ln w="19050">
            <a:solidFill>
              <a:srgbClr val="EA580C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TEAM LIQUID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ectangle 17410"/>
          <p:cNvSpPr/>
          <p:nvPr/>
        </p:nvSpPr>
        <p:spPr>
          <a:xfrm>
            <a:off x="548640" y="960120"/>
            <a:ext cx="10972800" cy="27432"/>
          </a:xfrm>
          <a:prstGeom prst="rect">
            <a:avLst/>
          </a:prstGeom>
          <a:solidFill>
            <a:srgbClr val="0D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ectangle 17411"/>
          <p:cNvSpPr/>
          <p:nvPr/>
        </p:nvSpPr>
        <p:spPr>
          <a:xfrm>
            <a:off x="548640" y="5870448"/>
            <a:ext cx="1097280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Rectangle 17412"/>
          <p:cNvSpPr/>
          <p:nvPr/>
        </p:nvSpPr>
        <p:spPr>
          <a:xfrm>
            <a:off x="548640" y="1051560"/>
            <a:ext cx="10972800" cy="62179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b="1" sz="900">
                <a:solidFill>
                  <a:srgbClr val="0D5C3A"/>
                </a:solidFill>
              </a:defRPr>
            </a:pPr>
            <a:r>
              <a:t>END-TO-END PROCESSING PIPELINE:</a:t>
            </a:r>
          </a:p>
          <a:p>
            <a:pPr>
              <a:defRPr b="1" sz="900">
                <a:solidFill>
                  <a:srgbClr val="0F172A"/>
                </a:solidFill>
              </a:defRPr>
            </a:pPr>
            <a:r>
              <a:t>Authentic PCAP  ➔  Magic-Byte Check  ➔  Scapy Parsing  ➔  5-Tuple Aggregation  ➔  27 Features  ➔  Two-Tier ML  ➔  Evidence Ledger  ➔  Reports</a:t>
            </a:r>
          </a:p>
        </p:txBody>
      </p:sp>
      <p:graphicFrame>
        <p:nvGraphicFramePr>
          <p:cNvPr id="17414" name="Table 17413"/>
          <p:cNvGraphicFramePr>
            <a:graphicFrameLocks noGrp="1"/>
          </p:cNvGraphicFramePr>
          <p:nvPr/>
        </p:nvGraphicFramePr>
        <p:xfrm>
          <a:off x="548640" y="1755648"/>
          <a:ext cx="5349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594360"/>
                <a:gridCol w="3337560"/>
              </a:tblGrid>
              <a:tr h="548640">
                <a:tc>
                  <a:txBody>
                    <a:bodyPr/>
                    <a:lstStyle/>
                    <a:p>
                      <a:pPr algn="l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Feature Category</a:t>
                      </a:r>
                    </a:p>
                  </a:txBody>
                  <a:tcPr>
                    <a:solidFill>
                      <a:srgbClr val="0D5C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0D5C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Deterministic Flow Metrics</a:t>
                      </a:r>
                    </a:p>
                  </a:txBody>
                  <a:tcPr>
                    <a:solidFill>
                      <a:srgbClr val="0D5C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D5C3A"/>
                          </a:solidFill>
                        </a:defRPr>
                      </a:pPr>
                      <a:r>
                        <a:t>Traffic Volume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EA580C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duration, packet_count, byte_count, packets/sec, bytes/sec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D5C3A"/>
                          </a:solidFill>
                        </a:defRPr>
                      </a:pPr>
                      <a:r>
                        <a:t>Size &amp; Entropy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EA580C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mean_size, std_size, min_size, max_size, Shannon entropy H(X)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D5C3A"/>
                          </a:solidFill>
                        </a:defRPr>
                      </a:pPr>
                      <a:r>
                        <a:t>Timing / IAT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EA580C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mean_iat, std_iat, min_iat, max_iat, iat_jitter, burstiness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D5C3A"/>
                          </a:solidFill>
                        </a:defRPr>
                      </a:pPr>
                      <a:r>
                        <a:t>TCP Flags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EA580C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syn, ack, fin, rst, psh, urg, syn_ratio, ack_ratio, rst_ratio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D5C3A"/>
                          </a:solidFill>
                        </a:defRPr>
                      </a:pPr>
                      <a:r>
                        <a:t>Port Signals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EA580C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is_well_known_dst_port (0–1023), is_ephemeral_src_port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415" name="Rectangle 17414"/>
          <p:cNvSpPr/>
          <p:nvPr/>
        </p:nvSpPr>
        <p:spPr>
          <a:xfrm>
            <a:off x="6080760" y="1755648"/>
            <a:ext cx="544068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400"/>
              </a:spcAft>
              <a:defRPr b="1" sz="1000">
                <a:solidFill>
                  <a:srgbClr val="0D5C3A"/>
                </a:solidFill>
              </a:defRPr>
            </a:pPr>
            <a:r>
              <a:t>TWO-TIER MACHINE LEARNING CORE</a:t>
            </a:r>
          </a:p>
        </p:txBody>
      </p:sp>
      <p:sp>
        <p:nvSpPr>
          <p:cNvPr id="17416" name="Rectangle 17415"/>
          <p:cNvSpPr/>
          <p:nvPr/>
        </p:nvSpPr>
        <p:spPr>
          <a:xfrm>
            <a:off x="6217920" y="2084831"/>
            <a:ext cx="5166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b="1" sz="900">
                <a:solidFill>
                  <a:srgbClr val="0D5C3A"/>
                </a:solidFill>
              </a:defRPr>
            </a:pPr>
            <a:r>
              <a:t>TIER 1: SUPERVISED MULTI-CLASS (HistGradientBoosting)</a:t>
            </a:r>
          </a:p>
          <a:p>
            <a:pPr>
              <a:defRPr sz="850">
                <a:solidFill>
                  <a:srgbClr val="EA580C"/>
                </a:solidFill>
              </a:defRPr>
            </a:pPr>
            <a:r>
              <a:t>Classifies: Benign | Volumetric DDoS | Recon Scan | C2 Beaconing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8686800" y="2743200"/>
            <a:ext cx="27432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 b="1">
                <a:solidFill>
                  <a:srgbClr val="EA580C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7418" name="Rectangle 17417"/>
          <p:cNvSpPr/>
          <p:nvPr/>
        </p:nvSpPr>
        <p:spPr>
          <a:xfrm>
            <a:off x="6217920" y="2907792"/>
            <a:ext cx="5166360" cy="658368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b="1" sz="900">
                <a:solidFill>
                  <a:srgbClr val="C2410C"/>
                </a:solidFill>
              </a:defRPr>
            </a:pPr>
            <a:r>
              <a:t>TIER 2: UNSUPERVISED ANOMALY (Isolation Forest)</a:t>
            </a:r>
          </a:p>
          <a:p>
            <a:pPr>
              <a:defRPr sz="800">
                <a:solidFill>
                  <a:srgbClr val="1E293B"/>
                </a:solidFill>
              </a:defRPr>
            </a:pPr>
            <a:r>
              <a:t>Novelty Core: Outlier score ≤ 0.0 flags novel zero-day behaviors (Contamination = 0.02)</a:t>
            </a:r>
          </a:p>
        </p:txBody>
      </p:sp>
      <p:sp>
        <p:nvSpPr>
          <p:cNvPr id="17419" name="Rectangle 17418"/>
          <p:cNvSpPr/>
          <p:nvPr/>
        </p:nvSpPr>
        <p:spPr>
          <a:xfrm>
            <a:off x="6080760" y="3840480"/>
            <a:ext cx="5440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b="1" sz="900">
                <a:solidFill>
                  <a:srgbClr val="0D5C3A"/>
                </a:solidFill>
              </a:defRPr>
            </a:pPr>
            <a:r>
              <a:t>SPECIALIZED METADATA PROFILERS (DNS DGA &amp; TLS Metadata)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Shannon entropy &gt; 3.4, digit ratio analysis, ClientHello SNI &amp; cipher suite count</a:t>
            </a:r>
          </a:p>
        </p:txBody>
      </p:sp>
      <p:sp>
        <p:nvSpPr>
          <p:cNvPr id="17420" name="Rectangle 17419"/>
          <p:cNvSpPr/>
          <p:nvPr/>
        </p:nvSpPr>
        <p:spPr>
          <a:xfrm>
            <a:off x="548640" y="4526280"/>
            <a:ext cx="10972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  <a:defRPr b="1" sz="950">
                <a:solidFill>
                  <a:srgbClr val="0D5C3A"/>
                </a:solidFill>
              </a:defRPr>
            </a:pPr>
            <a:r>
              <a:t>PRODUCTION TECHNOLOGY STACK &amp; HARDENING:</a:t>
            </a:r>
          </a:p>
          <a:p>
            <a:r>
              <a:rPr b="1" sz="850">
                <a:solidFill>
                  <a:srgbClr val="0F172A"/>
                </a:solidFill>
              </a:rPr>
              <a:t>• Frontend: </a:t>
            </a:r>
            <a:r>
              <a:rPr sz="850">
                <a:solidFill>
                  <a:srgbClr val="EA580C"/>
                </a:solidFill>
              </a:rPr>
              <a:t>React 19, TypeScript, Vite 8, Tailwind CSS</a:t>
            </a:r>
          </a:p>
          <a:p>
            <a:r>
              <a:rPr b="1" sz="850">
                <a:solidFill>
                  <a:srgbClr val="0F172A"/>
                </a:solidFill>
              </a:rPr>
              <a:t>• Backend: </a:t>
            </a:r>
            <a:r>
              <a:rPr sz="850">
                <a:solidFill>
                  <a:srgbClr val="EA580C"/>
                </a:solidFill>
              </a:rPr>
              <a:t>Python 3.11+, FastAPI, Uvicorn, Scapy, DPKT</a:t>
            </a:r>
          </a:p>
          <a:p>
            <a:r>
              <a:rPr b="1" sz="850">
                <a:solidFill>
                  <a:srgbClr val="0F172A"/>
                </a:solidFill>
              </a:rPr>
              <a:t>• Machine Learning: </a:t>
            </a:r>
            <a:r>
              <a:rPr sz="850">
                <a:solidFill>
                  <a:srgbClr val="EA580C"/>
                </a:solidFill>
              </a:rPr>
              <a:t>scikit-learn, NumPy, Pandas, Joblib</a:t>
            </a:r>
          </a:p>
          <a:p>
            <a:r>
              <a:rPr b="1" sz="850">
                <a:solidFill>
                  <a:srgbClr val="0F172A"/>
                </a:solidFill>
              </a:rPr>
              <a:t>• Database &amp; Storage: </a:t>
            </a:r>
            <a:r>
              <a:rPr sz="850">
                <a:solidFill>
                  <a:srgbClr val="EA580C"/>
                </a:solidFill>
              </a:rPr>
              <a:t>Supabase (PostgreSQL 15), Row Level Security</a:t>
            </a:r>
          </a:p>
          <a:p>
            <a:r>
              <a:rPr b="1" sz="850">
                <a:solidFill>
                  <a:srgbClr val="0F172A"/>
                </a:solidFill>
              </a:rPr>
              <a:t>• Security Hardening: </a:t>
            </a:r>
            <a:r>
              <a:rPr sz="850">
                <a:solidFill>
                  <a:srgbClr val="EA580C"/>
                </a:solidFill>
              </a:rPr>
              <a:t>Rate Limiter, Magic Bytes, CORS, SHA-256 Ledger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548640" y="164592"/>
            <a:ext cx="8412480" cy="502920"/>
          </a:xfrm>
        </p:spPr>
        <p:txBody>
          <a:bodyPr/>
          <a:lstStyle/>
          <a:p>
            <a:pPr eaLnBrk="1" hangingPunct="1" algn="l">
              <a:defRPr sz="2000" b="1">
                <a:solidFill>
                  <a:srgbClr val="0D5C3A"/>
                </a:solidFill>
                <a:latin typeface="Calibri"/>
              </a:defRPr>
            </a:pPr>
            <a: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48640" y="621792"/>
            <a:ext cx="8412480" cy="32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tIns="0" bIns="0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000" b="1">
                <a:solidFill>
                  <a:srgbClr val="EA580C"/>
                </a:solidFill>
                <a:latin typeface="Calibri"/>
              </a:defRPr>
            </a:pPr>
            <a:r>
              <a:t>FEASIBILITY ANALYSIS, TARGET USE CASES, CHALLENGE-MITIGATION MAPPING &amp; VERIFIED BENCHMARKS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">
                <a:solidFill>
                  <a:srgbClr val="475569"/>
                </a:solidFill>
                <a:latin typeface="Calibri"/>
              </a:defRPr>
            </a:pPr>
            <a:r>
              <a:t>@SIH Idea Submission — UNIGUARD AI | TEAM LIQUID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0D5C3A"/>
          </a:solidFill>
          <a:ln w="19050">
            <a:solidFill>
              <a:srgbClr val="EA580C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TEAM LIQUID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ectangle 17410"/>
          <p:cNvSpPr/>
          <p:nvPr/>
        </p:nvSpPr>
        <p:spPr>
          <a:xfrm>
            <a:off x="548640" y="960120"/>
            <a:ext cx="10972800" cy="27432"/>
          </a:xfrm>
          <a:prstGeom prst="rect">
            <a:avLst/>
          </a:prstGeom>
          <a:solidFill>
            <a:srgbClr val="0D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ectangle 17411"/>
          <p:cNvSpPr/>
          <p:nvPr/>
        </p:nvSpPr>
        <p:spPr>
          <a:xfrm>
            <a:off x="548640" y="5870448"/>
            <a:ext cx="1097280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Rectangle 17412"/>
          <p:cNvSpPr/>
          <p:nvPr/>
        </p:nvSpPr>
        <p:spPr>
          <a:xfrm>
            <a:off x="548640" y="1051560"/>
            <a:ext cx="5349240" cy="201168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  <a:defRPr b="1" sz="1050">
                <a:solidFill>
                  <a:srgbClr val="0D5C3A"/>
                </a:solidFill>
              </a:defRPr>
            </a:pPr>
            <a:r>
              <a:t>✓ FEASIBILITY ANALYSIS</a:t>
            </a:r>
          </a:p>
          <a:p>
            <a:r>
              <a:rPr b="1" sz="850">
                <a:solidFill>
                  <a:srgbClr val="0D5C3A"/>
                </a:solidFill>
              </a:rPr>
              <a:t>01 Technical Feasibility: </a:t>
            </a:r>
            <a:r>
              <a:rPr sz="850">
                <a:solidFill>
                  <a:srgbClr val="1E293B"/>
                </a:solidFill>
              </a:rPr>
              <a:t>100% software prototype fully operational with real PCAP binary ingestion.</a:t>
            </a:r>
          </a:p>
          <a:p>
            <a:r>
              <a:rPr b="1" sz="850">
                <a:solidFill>
                  <a:srgbClr val="0D5C3A"/>
                </a:solidFill>
              </a:rPr>
              <a:t>02 Modularisation: </a:t>
            </a:r>
            <a:r>
              <a:rPr sz="850">
                <a:solidFill>
                  <a:srgbClr val="1E293B"/>
                </a:solidFill>
              </a:rPr>
              <a:t>Decoupled FastAPI microservices, streaming ingestion, and swappable ML heads.</a:t>
            </a:r>
          </a:p>
          <a:p>
            <a:r>
              <a:rPr b="1" sz="850">
                <a:solidFill>
                  <a:srgbClr val="0D5C3A"/>
                </a:solidFill>
              </a:rPr>
              <a:t>03 Market Need: </a:t>
            </a:r>
            <a:r>
              <a:rPr sz="850">
                <a:solidFill>
                  <a:srgbClr val="1E293B"/>
                </a:solidFill>
              </a:rPr>
              <a:t>Urgent demand across defense and critical infrastructure for zero-probe security.</a:t>
            </a:r>
          </a:p>
          <a:p>
            <a:r>
              <a:rPr b="1" sz="850">
                <a:solidFill>
                  <a:srgbClr val="0D5C3A"/>
                </a:solidFill>
              </a:rPr>
              <a:t>04 Economic Viability: </a:t>
            </a:r>
            <a:r>
              <a:rPr sz="850">
                <a:solidFill>
                  <a:srgbClr val="1E293B"/>
                </a:solidFill>
              </a:rPr>
              <a:t>Software-first deployment avoids costly proprietary hardware appliance lock-in.</a:t>
            </a:r>
          </a:p>
        </p:txBody>
      </p:sp>
      <p:sp>
        <p:nvSpPr>
          <p:cNvPr id="17414" name="Rectangle 17413"/>
          <p:cNvSpPr/>
          <p:nvPr/>
        </p:nvSpPr>
        <p:spPr>
          <a:xfrm>
            <a:off x="6080760" y="1051560"/>
            <a:ext cx="544068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  <a:defRPr b="1" sz="1050">
                <a:solidFill>
                  <a:srgbClr val="0D5C3A"/>
                </a:solidFill>
              </a:defRPr>
            </a:pPr>
            <a:r>
              <a:t>TARGET USE CASES &amp; DEPLOYMENT ENCLAVES</a:t>
            </a:r>
          </a:p>
          <a:p>
            <a:r>
              <a:rPr b="1" sz="850">
                <a:solidFill>
                  <a:srgbClr val="EA580C"/>
                </a:solidFill>
              </a:rPr>
              <a:t>• Critical Infrastructure: </a:t>
            </a:r>
            <a:r>
              <a:rPr sz="850">
                <a:solidFill>
                  <a:srgbClr val="1E293B"/>
                </a:solidFill>
              </a:rPr>
              <a:t>Power grids, nuclear plants, and water SCADA network monitoring.</a:t>
            </a:r>
          </a:p>
          <a:p>
            <a:r>
              <a:rPr b="1" sz="850">
                <a:solidFill>
                  <a:srgbClr val="EA580C"/>
                </a:solidFill>
              </a:rPr>
              <a:t>• Defense OT Enclaves: </a:t>
            </a:r>
            <a:r>
              <a:rPr sz="850">
                <a:solidFill>
                  <a:srgbClr val="1E293B"/>
                </a:solidFill>
              </a:rPr>
              <a:t>Air-gapped telemetry networks with strict zero reverse conduit rules.</a:t>
            </a:r>
          </a:p>
          <a:p>
            <a:r>
              <a:rPr b="1" sz="850">
                <a:solidFill>
                  <a:srgbClr val="EA580C"/>
                </a:solidFill>
              </a:rPr>
              <a:t>• Financial Core Ledgers: </a:t>
            </a:r>
            <a:r>
              <a:rPr sz="850">
                <a:solidFill>
                  <a:srgbClr val="1E293B"/>
                </a:solidFill>
              </a:rPr>
              <a:t>Banking transaction pipelines requiring tamper-evident telemetry.</a:t>
            </a:r>
          </a:p>
          <a:p>
            <a:r>
              <a:rPr b="1" sz="850">
                <a:solidFill>
                  <a:srgbClr val="EA580C"/>
                </a:solidFill>
              </a:rPr>
              <a:t>• Enterprise Cloud VPC: </a:t>
            </a:r>
            <a:r>
              <a:rPr sz="850">
                <a:solidFill>
                  <a:srgbClr val="1E293B"/>
                </a:solidFill>
              </a:rPr>
              <a:t>Multi-tenant VPC mirror analysis without active probing overhead.</a:t>
            </a:r>
          </a:p>
        </p:txBody>
      </p:sp>
      <p:graphicFrame>
        <p:nvGraphicFramePr>
          <p:cNvPr id="17415" name="Table 17414"/>
          <p:cNvGraphicFramePr>
            <a:graphicFrameLocks noGrp="1"/>
          </p:cNvGraphicFramePr>
          <p:nvPr/>
        </p:nvGraphicFramePr>
        <p:xfrm>
          <a:off x="548640" y="3154680"/>
          <a:ext cx="1097280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/>
                <a:gridCol w="5623560"/>
              </a:tblGrid>
              <a:tr h="301752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⚠ Identified Operational Challenge</a:t>
                      </a:r>
                    </a:p>
                  </a:txBody>
                  <a:tcPr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🛡 Direct Mitigation Strategy in UNIGUARD AI</a:t>
                      </a:r>
                    </a:p>
                  </a:txBody>
                  <a:tcPr>
                    <a:solidFill>
                      <a:srgbClr val="0D5C3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C2410C"/>
                          </a:solidFill>
                        </a:defRPr>
                      </a:pPr>
                      <a:r>
                        <a:t>Memory Pressure: High memory during massive PCAP file parsing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66534"/>
                          </a:solidFill>
                        </a:defRPr>
                      </a:pPr>
                      <a:r>
                        <a:t>50 MB upload boundary + streaming chunking avoids memory exhaustion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C2410C"/>
                          </a:solidFill>
                        </a:defRPr>
                      </a:pPr>
                      <a:r>
                        <a:t>Strict Passive Boundary: Zero return ACKs complicate TCP tracking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66534"/>
                          </a:solidFill>
                        </a:defRPr>
                      </a:pPr>
                      <a:r>
                        <a:t>Directional 5-tuple flow aggregation extracts state without ACK handshakes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C2410C"/>
                          </a:solidFill>
                        </a:defRPr>
                      </a:pPr>
                      <a:r>
                        <a:t>Zero-Day Threats: Emerging attack signatures absent in initial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66534"/>
                          </a:solidFill>
                        </a:defRPr>
                      </a:pPr>
                      <a:r>
                        <a:t>Tier 2 Isolation Forest detects outlier distributions without labeled classes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C2410C"/>
                          </a:solidFill>
                        </a:defRPr>
                      </a:pPr>
                      <a:r>
                        <a:t>Encrypted Protocols: Payload opacity in modern TLS 1.3 / QUIC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66534"/>
                          </a:solidFill>
                        </a:defRPr>
                      </a:pPr>
                      <a:r>
                        <a:t>Non-decrypting ClientHello SNI and Shannon entropy profile encrypted flows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7416" name="Rectangle 17415"/>
          <p:cNvSpPr/>
          <p:nvPr/>
        </p:nvSpPr>
        <p:spPr>
          <a:xfrm>
            <a:off x="548640" y="4736592"/>
            <a:ext cx="10972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b="1" sz="900">
                <a:solidFill>
                  <a:srgbClr val="0D5C3A"/>
                </a:solidFill>
              </a:rPr>
              <a:t>DEPLOYMENT ROADMAP:   </a:t>
            </a:r>
            <a:r>
              <a:rPr b="1" sz="850">
                <a:solidFill>
                  <a:srgbClr val="166534"/>
                </a:solidFill>
              </a:rPr>
              <a:t>[CURRENT] Software-simulated diode boundary &amp; microservice prototype (Fully Functional)   ➔   </a:t>
            </a:r>
            <a:r>
              <a:rPr b="1" sz="850">
                <a:solidFill>
                  <a:srgbClr val="EA580C"/>
                </a:solidFill>
              </a:rPr>
              <a:t>[FUTURE / OPTIONAL] Physical optical tap + Hardware data diode (TX LED ➔ RX Photodiode)</a:t>
            </a:r>
          </a:p>
        </p:txBody>
      </p:sp>
      <p:sp>
        <p:nvSpPr>
          <p:cNvPr id="17417" name="Rectangle 17416"/>
          <p:cNvSpPr/>
          <p:nvPr/>
        </p:nvSpPr>
        <p:spPr>
          <a:xfrm>
            <a:off x="548640" y="5230368"/>
            <a:ext cx="2139696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100"/>
              </a:spcAft>
              <a:defRPr b="1" sz="1000">
                <a:solidFill>
                  <a:srgbClr val="0D5C3A"/>
                </a:solidFill>
              </a:defRPr>
            </a:pPr>
            <a:r>
              <a:t>59 PASSED</a:t>
            </a:r>
          </a:p>
          <a:p>
            <a:pPr algn="ctr">
              <a:defRPr b="1" sz="800">
                <a:solidFill>
                  <a:srgbClr val="EA580C"/>
                </a:solidFill>
              </a:defRPr>
            </a:pPr>
            <a:r>
              <a:t>0 Failed Tests</a:t>
            </a:r>
          </a:p>
        </p:txBody>
      </p:sp>
      <p:sp>
        <p:nvSpPr>
          <p:cNvPr id="17418" name="Rectangle 17417"/>
          <p:cNvSpPr/>
          <p:nvPr/>
        </p:nvSpPr>
        <p:spPr>
          <a:xfrm>
            <a:off x="2752344" y="5230368"/>
            <a:ext cx="2139696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100"/>
              </a:spcAft>
              <a:defRPr b="1" sz="1000">
                <a:solidFill>
                  <a:srgbClr val="0D5C3A"/>
                </a:solidFill>
              </a:defRPr>
            </a:pPr>
            <a:r>
              <a:t>PASS</a:t>
            </a:r>
          </a:p>
          <a:p>
            <a:pPr algn="ctr">
              <a:defRPr b="1" sz="800">
                <a:solidFill>
                  <a:srgbClr val="EA580C"/>
                </a:solidFill>
              </a:defRPr>
            </a:pPr>
            <a:r>
              <a:t>Frontend Build</a:t>
            </a:r>
          </a:p>
        </p:txBody>
      </p:sp>
      <p:sp>
        <p:nvSpPr>
          <p:cNvPr id="17419" name="Rectangle 17418"/>
          <p:cNvSpPr/>
          <p:nvPr/>
        </p:nvSpPr>
        <p:spPr>
          <a:xfrm>
            <a:off x="4956048" y="5230368"/>
            <a:ext cx="2139696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100"/>
              </a:spcAft>
              <a:defRPr b="1" sz="1000">
                <a:solidFill>
                  <a:srgbClr val="0D5C3A"/>
                </a:solidFill>
              </a:defRPr>
            </a:pPr>
            <a:r>
              <a:t>SHA-256</a:t>
            </a:r>
          </a:p>
          <a:p>
            <a:pPr algn="ctr">
              <a:defRPr b="1" sz="800">
                <a:solidFill>
                  <a:srgbClr val="EA580C"/>
                </a:solidFill>
              </a:defRPr>
            </a:pPr>
            <a:r>
              <a:t>Byte-Verified Checksums</a:t>
            </a:r>
          </a:p>
        </p:txBody>
      </p:sp>
      <p:sp>
        <p:nvSpPr>
          <p:cNvPr id="17420" name="Rectangle 17419"/>
          <p:cNvSpPr/>
          <p:nvPr/>
        </p:nvSpPr>
        <p:spPr>
          <a:xfrm>
            <a:off x="7159752" y="5230368"/>
            <a:ext cx="2139696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100"/>
              </a:spcAft>
              <a:defRPr b="1" sz="1000">
                <a:solidFill>
                  <a:srgbClr val="0D5C3A"/>
                </a:solidFill>
              </a:defRPr>
            </a:pPr>
            <a:r>
              <a:t>82.24%</a:t>
            </a:r>
          </a:p>
          <a:p>
            <a:pPr algn="ctr">
              <a:defRPr b="1" sz="800">
                <a:solidFill>
                  <a:srgbClr val="EA580C"/>
                </a:solidFill>
              </a:defRPr>
            </a:pPr>
            <a:r>
              <a:t>Real AI Accuracy</a:t>
            </a:r>
          </a:p>
        </p:txBody>
      </p:sp>
      <p:sp>
        <p:nvSpPr>
          <p:cNvPr id="17421" name="Rectangle 17420"/>
          <p:cNvSpPr/>
          <p:nvPr/>
        </p:nvSpPr>
        <p:spPr>
          <a:xfrm>
            <a:off x="9363456" y="5230368"/>
            <a:ext cx="2139696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100"/>
              </a:spcAft>
              <a:defRPr b="1" sz="1000">
                <a:solidFill>
                  <a:srgbClr val="0D5C3A"/>
                </a:solidFill>
              </a:defRPr>
            </a:pPr>
            <a:r>
              <a:t>2.8%</a:t>
            </a:r>
          </a:p>
          <a:p>
            <a:pPr algn="ctr">
              <a:defRPr b="1" sz="800">
                <a:solidFill>
                  <a:srgbClr val="EA580C"/>
                </a:solidFill>
              </a:defRPr>
            </a:pPr>
            <a:r>
              <a:t>Benign FPR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548640" y="164592"/>
            <a:ext cx="8412480" cy="502920"/>
          </a:xfrm>
        </p:spPr>
        <p:txBody>
          <a:bodyPr/>
          <a:lstStyle/>
          <a:p>
            <a:pPr eaLnBrk="1" hangingPunct="1" algn="l">
              <a:defRPr sz="2000" b="1">
                <a:solidFill>
                  <a:srgbClr val="0D5C3A"/>
                </a:solidFill>
                <a:latin typeface="Calibri"/>
              </a:defRPr>
            </a:pPr>
            <a: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48640" y="621792"/>
            <a:ext cx="8412480" cy="32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tIns="0" bIns="0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000" b="1">
                <a:solidFill>
                  <a:srgbClr val="EA580C"/>
                </a:solidFill>
                <a:latin typeface="Calibri"/>
              </a:defRPr>
            </a:pPr>
            <a:r>
              <a:t>FOUR IMPACT PILLARS, TRADITIONAL NIDS VS UNIGUARD AI COMPARISON &amp; BENCHMARK BAND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">
                <a:solidFill>
                  <a:srgbClr val="475569"/>
                </a:solidFill>
                <a:latin typeface="Calibri"/>
              </a:defRPr>
            </a:pPr>
            <a:r>
              <a:t>@SIH Idea Submission — UNIGUARD AI | TEAM LIQUID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0D5C3A"/>
          </a:solidFill>
          <a:ln w="19050">
            <a:solidFill>
              <a:srgbClr val="EA580C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TEAM LIQUID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ectangle 17410"/>
          <p:cNvSpPr/>
          <p:nvPr/>
        </p:nvSpPr>
        <p:spPr>
          <a:xfrm>
            <a:off x="548640" y="960120"/>
            <a:ext cx="10972800" cy="27432"/>
          </a:xfrm>
          <a:prstGeom prst="rect">
            <a:avLst/>
          </a:prstGeom>
          <a:solidFill>
            <a:srgbClr val="0D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ectangle 17411"/>
          <p:cNvSpPr/>
          <p:nvPr/>
        </p:nvSpPr>
        <p:spPr>
          <a:xfrm>
            <a:off x="548640" y="5870448"/>
            <a:ext cx="1097280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Rectangle 17412"/>
          <p:cNvSpPr/>
          <p:nvPr/>
        </p:nvSpPr>
        <p:spPr>
          <a:xfrm>
            <a:off x="548640" y="1051560"/>
            <a:ext cx="544068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b="1" sz="1000">
                <a:solidFill>
                  <a:srgbClr val="EA580C"/>
                </a:solidFill>
              </a:rPr>
              <a:t>01 | </a:t>
            </a:r>
            <a:r>
              <a:rPr b="1" sz="1000">
                <a:solidFill>
                  <a:srgbClr val="0D5C3A"/>
                </a:solidFill>
              </a:rPr>
              <a:t>CRITICAL INFRASTRUCTURE DEFENSE </a:t>
            </a:r>
            <a:r>
              <a:rPr sz="850">
                <a:solidFill>
                  <a:srgbClr val="475569"/>
                </a:solidFill>
              </a:rPr>
              <a:t>(Zero Probing • Safe Operation)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Guarantees zero interference with sensitive power grids, defense telemetry, and nuclear SCADA networks by enforcing strictly passive traffic capture.</a:t>
            </a:r>
          </a:p>
        </p:txBody>
      </p:sp>
      <p:sp>
        <p:nvSpPr>
          <p:cNvPr id="17414" name="Rectangle 17413"/>
          <p:cNvSpPr/>
          <p:nvPr/>
        </p:nvSpPr>
        <p:spPr>
          <a:xfrm>
            <a:off x="6080760" y="1051560"/>
            <a:ext cx="544068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b="1" sz="1000">
                <a:solidFill>
                  <a:srgbClr val="EA580C"/>
                </a:solidFill>
              </a:rPr>
              <a:t>02 | </a:t>
            </a:r>
            <a:r>
              <a:rPr b="1" sz="1000">
                <a:solidFill>
                  <a:srgbClr val="0D5C3A"/>
                </a:solidFill>
              </a:rPr>
              <a:t>NEXT-GEN SOC OPERATIONS </a:t>
            </a:r>
            <a:r>
              <a:rPr sz="850">
                <a:solidFill>
                  <a:srgbClr val="475569"/>
                </a:solidFill>
              </a:rPr>
              <a:t>(Sub-Millisecond Threat MTTD)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Eliminates manual alert fatigue by automatically classifying volumetric DDoS floods, port sweeps, and C2 beaconing in under 15 ms per flow.</a:t>
            </a:r>
          </a:p>
        </p:txBody>
      </p:sp>
      <p:sp>
        <p:nvSpPr>
          <p:cNvPr id="17415" name="Rectangle 17414"/>
          <p:cNvSpPr/>
          <p:nvPr/>
        </p:nvSpPr>
        <p:spPr>
          <a:xfrm>
            <a:off x="548640" y="2121408"/>
            <a:ext cx="544068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b="1" sz="1000">
                <a:solidFill>
                  <a:srgbClr val="EA580C"/>
                </a:solidFill>
              </a:rPr>
              <a:t>03 | </a:t>
            </a:r>
            <a:r>
              <a:rPr b="1" sz="1000">
                <a:solidFill>
                  <a:srgbClr val="0D5C3A"/>
                </a:solidFill>
              </a:rPr>
              <a:t>FORENSIC EVIDENCE &amp; AUDIT </a:t>
            </a:r>
            <a:r>
              <a:rPr sz="850">
                <a:solidFill>
                  <a:srgbClr val="475569"/>
                </a:solidFill>
              </a:rPr>
              <a:t>(Cryptographic Non-Repudiation)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Generates immutable SHA-256 chained hash blocks across flow parameters and entropy distributions, ensuring regulatory audit compliance.</a:t>
            </a:r>
          </a:p>
        </p:txBody>
      </p:sp>
      <p:sp>
        <p:nvSpPr>
          <p:cNvPr id="17416" name="Rectangle 17415"/>
          <p:cNvSpPr/>
          <p:nvPr/>
        </p:nvSpPr>
        <p:spPr>
          <a:xfrm>
            <a:off x="6080760" y="2121408"/>
            <a:ext cx="544068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b="1" sz="1000">
                <a:solidFill>
                  <a:srgbClr val="EA580C"/>
                </a:solidFill>
              </a:rPr>
              <a:t>04 | </a:t>
            </a:r>
            <a:r>
              <a:rPr b="1" sz="1000">
                <a:solidFill>
                  <a:srgbClr val="0D5C3A"/>
                </a:solidFill>
              </a:rPr>
              <a:t>SCALABLE DEFENSE-IN-DEPTH </a:t>
            </a:r>
            <a:r>
              <a:rPr sz="850">
                <a:solidFill>
                  <a:srgbClr val="475569"/>
                </a:solidFill>
              </a:rPr>
              <a:t>(Software-First Architecture)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Deploys instantly across virtualized enclaves (VPC/containers) with seamless support for high-assurance physical optical data diodes.</a:t>
            </a:r>
          </a:p>
        </p:txBody>
      </p:sp>
      <p:graphicFrame>
        <p:nvGraphicFramePr>
          <p:cNvPr id="17417" name="Table 17416"/>
          <p:cNvGraphicFramePr>
            <a:graphicFrameLocks noGrp="1"/>
          </p:cNvGraphicFramePr>
          <p:nvPr/>
        </p:nvGraphicFramePr>
        <p:xfrm>
          <a:off x="548640" y="3200400"/>
          <a:ext cx="109728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114800"/>
                <a:gridCol w="411480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Capability Dimension</a:t>
                      </a:r>
                    </a:p>
                  </a:txBody>
                  <a:tcPr>
                    <a:solidFill>
                      <a:srgbClr val="0D5C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Traditional NIDS (Snort / Suricata)</a:t>
                      </a:r>
                    </a:p>
                  </a:txBody>
                  <a:tcPr>
                    <a:solidFill>
                      <a:srgbClr val="0D5C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UNIGUARD AI Unidirectional Engine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D5C3A"/>
                          </a:solidFill>
                        </a:defRPr>
                      </a:pPr>
                      <a:r>
                        <a:t>Active Probing Risk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475569"/>
                          </a:solidFill>
                        </a:defRPr>
                      </a:pPr>
                      <a:r>
                        <a:t>High (Injects TCP resets, active scan beacons)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66534"/>
                          </a:solidFill>
                        </a:defRPr>
                      </a:pPr>
                      <a:r>
                        <a:t>Zero (100% Read-Only Passive Listening)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D5C3A"/>
                          </a:solidFill>
                        </a:defRPr>
                      </a:pPr>
                      <a:r>
                        <a:t>Reverse Network Path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475569"/>
                          </a:solidFill>
                        </a:defRPr>
                      </a:pPr>
                      <a:r>
                        <a:t>Bidirectional (Potential reverse attack conduit)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66534"/>
                          </a:solidFill>
                        </a:defRPr>
                      </a:pPr>
                      <a:r>
                        <a:t>One-Way Diode (Return transmission blocked ✕)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D5C3A"/>
                          </a:solidFill>
                        </a:defRPr>
                      </a:pPr>
                      <a:r>
                        <a:t>Traffic Dependency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475569"/>
                          </a:solidFill>
                        </a:defRPr>
                      </a:pPr>
                      <a:r>
                        <a:t>Requires stateful 2-way TCP handshakes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66534"/>
                          </a:solidFill>
                        </a:defRPr>
                      </a:pPr>
                      <a:r>
                        <a:t>Aggregates single-direction 5-tuple flows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D5C3A"/>
                          </a:solidFill>
                        </a:defRPr>
                      </a:pPr>
                      <a:r>
                        <a:t>Threat Detection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475569"/>
                          </a:solidFill>
                        </a:defRPr>
                      </a:pPr>
                      <a:r>
                        <a:t>Purely static signature matching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66534"/>
                          </a:solidFill>
                        </a:defRPr>
                      </a:pPr>
                      <a:r>
                        <a:t>Tier 1 Supervised ML (HistGradientBoosting)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D5C3A"/>
                          </a:solidFill>
                        </a:defRPr>
                      </a:pPr>
                      <a:r>
                        <a:t>Zero-Day Anomaly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475569"/>
                          </a:solidFill>
                        </a:defRPr>
                      </a:pPr>
                      <a:r>
                        <a:t>Fails on unknown attack patterns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66534"/>
                          </a:solidFill>
                        </a:defRPr>
                      </a:pPr>
                      <a:r>
                        <a:t>Tier 2 Isolation Forest (Contamination = 0.02)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D5C3A"/>
                          </a:solidFill>
                        </a:defRPr>
                      </a:pPr>
                      <a:r>
                        <a:t>Evidence Integrity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475569"/>
                          </a:solidFill>
                        </a:defRPr>
                      </a:pPr>
                      <a:r>
                        <a:t>Plain syslog / unverified text logs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66534"/>
                          </a:solidFill>
                        </a:defRPr>
                      </a:pPr>
                      <a:r>
                        <a:t>SHA-256 Cryptographic Block Ledger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7418" name="Rectangle 17417"/>
          <p:cNvSpPr/>
          <p:nvPr/>
        </p:nvSpPr>
        <p:spPr>
          <a:xfrm>
            <a:off x="548640" y="5230368"/>
            <a:ext cx="10972800" cy="56692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b="1" sz="950">
                <a:solidFill>
                  <a:srgbClr val="0D5C3A"/>
                </a:solidFill>
              </a:defRPr>
            </a:pPr>
            <a:r>
              <a:t>100% PASSIVE READ-ONLY  |  27 DETERMINISTIC FEATURES  |  4-CLASS ML  |  ISOLATION FOREST  |  82.24% ACCURACY  |  2.8% BENIGN FPR  |  SHA-256 LEDGER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548640" y="164592"/>
            <a:ext cx="8412480" cy="502920"/>
          </a:xfrm>
        </p:spPr>
        <p:txBody>
          <a:bodyPr/>
          <a:lstStyle/>
          <a:p>
            <a:pPr eaLnBrk="1" hangingPunct="1" algn="l">
              <a:defRPr sz="2000" b="1">
                <a:solidFill>
                  <a:srgbClr val="0D5C3A"/>
                </a:solidFill>
                <a:latin typeface="Calibri"/>
              </a:defRPr>
            </a:pPr>
            <a:r>
              <a:t>RESEARCH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48640" y="621792"/>
            <a:ext cx="8412480" cy="32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tIns="0" bIns="0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000" b="1">
                <a:solidFill>
                  <a:srgbClr val="EA580C"/>
                </a:solidFill>
                <a:latin typeface="Calibri"/>
              </a:defRPr>
            </a:pPr>
            <a:r>
              <a:t>THEORETICAL FOUNDATIONS, STANDARDS, BENCHMARK DATASETS &amp; RESEARCH METHODOLOGY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">
                <a:solidFill>
                  <a:srgbClr val="475569"/>
                </a:solidFill>
                <a:latin typeface="Calibri"/>
              </a:defRPr>
            </a:pPr>
            <a:r>
              <a:t>@SIH Idea Submission — UNIGUARD AI | TEAM LIQUID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0D5C3A"/>
          </a:solidFill>
          <a:ln w="19050">
            <a:solidFill>
              <a:srgbClr val="EA580C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TEAM LIQUID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ectangle 17410"/>
          <p:cNvSpPr/>
          <p:nvPr/>
        </p:nvSpPr>
        <p:spPr>
          <a:xfrm>
            <a:off x="548640" y="960120"/>
            <a:ext cx="10972800" cy="27432"/>
          </a:xfrm>
          <a:prstGeom prst="rect">
            <a:avLst/>
          </a:prstGeom>
          <a:solidFill>
            <a:srgbClr val="0D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ectangle 17411"/>
          <p:cNvSpPr/>
          <p:nvPr/>
        </p:nvSpPr>
        <p:spPr>
          <a:xfrm>
            <a:off x="548640" y="5870448"/>
            <a:ext cx="1097280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Rectangle 17412"/>
          <p:cNvSpPr/>
          <p:nvPr/>
        </p:nvSpPr>
        <p:spPr>
          <a:xfrm>
            <a:off x="548640" y="1051560"/>
            <a:ext cx="5943600" cy="3977639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400"/>
              </a:spcAft>
              <a:defRPr b="1" sz="1050">
                <a:solidFill>
                  <a:srgbClr val="0D5C3A"/>
                </a:solidFill>
              </a:defRPr>
            </a:pPr>
            <a:r>
              <a:t>FOUNDATIONAL RESEARCH &amp; TECHNICAL REFERENCES</a:t>
            </a:r>
          </a:p>
          <a:p>
            <a:pPr>
              <a:spcBef>
                <a:spcPts val="300"/>
              </a:spcBef>
            </a:pPr>
            <a:r>
              <a:rPr b="1" sz="900">
                <a:solidFill>
                  <a:srgbClr val="EA580C"/>
                </a:solidFill>
              </a:rPr>
              <a:t>01 | </a:t>
            </a:r>
            <a:r>
              <a:rPr b="1" sz="900">
                <a:solidFill>
                  <a:srgbClr val="0D5C3A"/>
                </a:solidFill>
              </a:rPr>
              <a:t>NETWORK SECURITY &amp; DATA DIODE ARCHITECTURES</a:t>
            </a:r>
          </a:p>
          <a:p>
            <a:r>
              <a:rPr b="1" sz="800">
                <a:solidFill>
                  <a:srgbClr val="0F172A"/>
                </a:solidFill>
              </a:rPr>
              <a:t>   • NIST SP 800-82 Rev 2: </a:t>
            </a:r>
            <a:r>
              <a:rPr sz="800">
                <a:solidFill>
                  <a:srgbClr val="475569"/>
                </a:solidFill>
              </a:rPr>
              <a:t>Guide to Industrial Control Systems (ICS) Security &amp; Data Diodes</a:t>
            </a:r>
          </a:p>
          <a:p>
            <a:r>
              <a:rPr b="1" sz="800">
                <a:solidFill>
                  <a:srgbClr val="0F172A"/>
                </a:solidFill>
              </a:rPr>
              <a:t>   • RFC 793 &amp; RFC 8446: </a:t>
            </a:r>
            <a:r>
              <a:rPr sz="800">
                <a:solidFill>
                  <a:srgbClr val="475569"/>
                </a:solidFill>
              </a:rPr>
              <a:t>Transmission Control Protocol &amp; Transport Layer Security (TLS 1.3)</a:t>
            </a:r>
          </a:p>
          <a:p>
            <a:r>
              <a:rPr b="1" sz="800">
                <a:solidFill>
                  <a:srgbClr val="0F172A"/>
                </a:solidFill>
              </a:rPr>
              <a:t>   • IETF Draft: </a:t>
            </a:r>
            <a:r>
              <a:rPr sz="800">
                <a:solidFill>
                  <a:srgbClr val="475569"/>
                </a:solidFill>
              </a:rPr>
              <a:t>PCAP / PCAPNG Binary File Format Specifications &amp; Framing</a:t>
            </a:r>
          </a:p>
          <a:p>
            <a:r>
              <a:rPr b="1" sz="800">
                <a:solidFill>
                  <a:srgbClr val="0F172A"/>
                </a:solidFill>
              </a:rPr>
              <a:t>   • Passive Telemetry: </a:t>
            </a:r>
            <a:r>
              <a:rPr sz="800">
                <a:solidFill>
                  <a:srgbClr val="475569"/>
                </a:solidFill>
              </a:rPr>
              <a:t>Unidirectional Optical SPAN Mirroring &amp; 5-Tuple Reconstruction</a:t>
            </a:r>
          </a:p>
          <a:p>
            <a:pPr>
              <a:spcBef>
                <a:spcPts val="300"/>
              </a:spcBef>
            </a:pPr>
            <a:r>
              <a:rPr b="1" sz="900">
                <a:solidFill>
                  <a:srgbClr val="EA580C"/>
                </a:solidFill>
              </a:rPr>
              <a:t>02 | </a:t>
            </a:r>
            <a:r>
              <a:rPr b="1" sz="900">
                <a:solidFill>
                  <a:srgbClr val="0D5C3A"/>
                </a:solidFill>
              </a:rPr>
              <a:t>MACHINE LEARNING &amp; ANOMALY DETECTION</a:t>
            </a:r>
          </a:p>
          <a:p>
            <a:r>
              <a:rPr b="1" sz="800">
                <a:solidFill>
                  <a:srgbClr val="0F172A"/>
                </a:solidFill>
              </a:rPr>
              <a:t>   • Ke et al. (2017): </a:t>
            </a:r>
            <a:r>
              <a:rPr sz="800">
                <a:solidFill>
                  <a:srgbClr val="475569"/>
                </a:solidFill>
              </a:rPr>
              <a:t>Histogram-Based Gradient Boosting Ensembles for High-Speed Tabular Data</a:t>
            </a:r>
          </a:p>
          <a:p>
            <a:r>
              <a:rPr b="1" sz="800">
                <a:solidFill>
                  <a:srgbClr val="0F172A"/>
                </a:solidFill>
              </a:rPr>
              <a:t>   • Liu, Ting, &amp; Zhou (2008): </a:t>
            </a:r>
            <a:r>
              <a:rPr sz="800">
                <a:solidFill>
                  <a:srgbClr val="475569"/>
                </a:solidFill>
              </a:rPr>
              <a:t>Isolation Forest: Fast Tree-Based Unsupervised Anomaly Detection</a:t>
            </a:r>
          </a:p>
          <a:p>
            <a:r>
              <a:rPr b="1" sz="800">
                <a:solidFill>
                  <a:srgbClr val="0F172A"/>
                </a:solidFill>
              </a:rPr>
              <a:t>   • Shannon, C.E. (1948): </a:t>
            </a:r>
            <a:r>
              <a:rPr sz="800">
                <a:solidFill>
                  <a:srgbClr val="475569"/>
                </a:solidFill>
              </a:rPr>
              <a:t>Mathematical Theory of Communication (Information &amp; Lexical Entropy)</a:t>
            </a:r>
          </a:p>
          <a:p>
            <a:r>
              <a:rPr b="1" sz="800">
                <a:solidFill>
                  <a:srgbClr val="0F172A"/>
                </a:solidFill>
              </a:rPr>
              <a:t>   • scikit-learn 1.4+: </a:t>
            </a:r>
            <a:r>
              <a:rPr sz="800">
                <a:solidFill>
                  <a:srgbClr val="475569"/>
                </a:solidFill>
              </a:rPr>
              <a:t>Production Model Calibration, Cross-Validation, &amp; Robust Scaling</a:t>
            </a:r>
          </a:p>
          <a:p>
            <a:pPr>
              <a:spcBef>
                <a:spcPts val="300"/>
              </a:spcBef>
            </a:pPr>
            <a:r>
              <a:rPr b="1" sz="900">
                <a:solidFill>
                  <a:srgbClr val="EA580C"/>
                </a:solidFill>
              </a:rPr>
              <a:t>03 | </a:t>
            </a:r>
            <a:r>
              <a:rPr b="1" sz="900">
                <a:solidFill>
                  <a:srgbClr val="0D5C3A"/>
                </a:solidFill>
              </a:rPr>
              <a:t>SECURITY, INTEGRITY &amp; BENCHMARK DATASETS</a:t>
            </a:r>
          </a:p>
          <a:p>
            <a:r>
              <a:rPr b="1" sz="800">
                <a:solidFill>
                  <a:srgbClr val="0F172A"/>
                </a:solidFill>
              </a:rPr>
              <a:t>   • FIPS PUB 180-4: </a:t>
            </a:r>
            <a:r>
              <a:rPr sz="800">
                <a:solidFill>
                  <a:srgbClr val="475569"/>
                </a:solidFill>
              </a:rPr>
              <a:t>Secure Hash Standard (SHA-256) for Cryptographic Audit Ledgers</a:t>
            </a:r>
          </a:p>
          <a:p>
            <a:r>
              <a:rPr b="1" sz="800">
                <a:solidFill>
                  <a:srgbClr val="0F172A"/>
                </a:solidFill>
              </a:rPr>
              <a:t>   • CSE-CIC-IDS2018: </a:t>
            </a:r>
            <a:r>
              <a:rPr sz="800">
                <a:solidFill>
                  <a:srgbClr val="475569"/>
                </a:solidFill>
              </a:rPr>
              <a:t>Authentic LOIC HTTP Flooding &amp; DDoS Network Attack Captures</a:t>
            </a:r>
          </a:p>
          <a:p>
            <a:r>
              <a:rPr b="1" sz="800">
                <a:solidFill>
                  <a:srgbClr val="0F172A"/>
                </a:solidFill>
              </a:rPr>
              <a:t>   • CTU-13 Dataset: </a:t>
            </a:r>
            <a:r>
              <a:rPr sz="800">
                <a:solidFill>
                  <a:srgbClr val="475569"/>
                </a:solidFill>
              </a:rPr>
              <a:t>Stratosphere Lab Neris IRC &amp; Botnet C2 Beaconing Benchmarks</a:t>
            </a:r>
          </a:p>
          <a:p>
            <a:r>
              <a:rPr b="1" sz="800">
                <a:solidFill>
                  <a:srgbClr val="0F172A"/>
                </a:solidFill>
              </a:rPr>
              <a:t>   • CIC-IDS2017 &amp; Nmap: </a:t>
            </a:r>
            <a:r>
              <a:rPr sz="800">
                <a:solidFill>
                  <a:srgbClr val="475569"/>
                </a:solidFill>
              </a:rPr>
              <a:t>Ares Botnet Command Channels &amp; Port Reconnaissance Slices</a:t>
            </a:r>
          </a:p>
          <a:p>
            <a:pPr>
              <a:spcBef>
                <a:spcPts val="300"/>
              </a:spcBef>
            </a:pPr>
            <a:r>
              <a:rPr b="1" sz="900">
                <a:solidFill>
                  <a:srgbClr val="EA580C"/>
                </a:solidFill>
              </a:rPr>
              <a:t>04 | </a:t>
            </a:r>
            <a:r>
              <a:rPr b="1" sz="900">
                <a:solidFill>
                  <a:srgbClr val="0D5C3A"/>
                </a:solidFill>
              </a:rPr>
              <a:t>IMPLEMENTATION ARCHITECTURE &amp; TOOLING</a:t>
            </a:r>
          </a:p>
          <a:p>
            <a:r>
              <a:rPr b="1" sz="800">
                <a:solidFill>
                  <a:srgbClr val="0F172A"/>
                </a:solidFill>
              </a:rPr>
              <a:t>   • FastAPI Framework: </a:t>
            </a:r>
            <a:r>
              <a:rPr sz="800">
                <a:solidFill>
                  <a:srgbClr val="475569"/>
                </a:solidFill>
              </a:rPr>
              <a:t>High-Performance Asynchronous Python Microservice Architecture</a:t>
            </a:r>
          </a:p>
          <a:p>
            <a:r>
              <a:rPr b="1" sz="800">
                <a:solidFill>
                  <a:srgbClr val="0F172A"/>
                </a:solidFill>
              </a:rPr>
              <a:t>   • Scapy 2.5 &amp; DPKT: </a:t>
            </a:r>
            <a:r>
              <a:rPr sz="800">
                <a:solidFill>
                  <a:srgbClr val="475569"/>
                </a:solidFill>
              </a:rPr>
              <a:t>Low-Level Binary Packet Decoding &amp; Header Metadata Extraction</a:t>
            </a:r>
          </a:p>
          <a:p>
            <a:r>
              <a:rPr b="1" sz="800">
                <a:solidFill>
                  <a:srgbClr val="0F172A"/>
                </a:solidFill>
              </a:rPr>
              <a:t>   • PostgreSQL 15 / Supabase: </a:t>
            </a:r>
            <a:r>
              <a:rPr sz="800">
                <a:solidFill>
                  <a:srgbClr val="475569"/>
                </a:solidFill>
              </a:rPr>
              <a:t>Relational Incident Schema, JSONB Attributions, &amp; Row-Level Security</a:t>
            </a:r>
          </a:p>
          <a:p>
            <a:r>
              <a:rPr b="1" sz="800">
                <a:solidFill>
                  <a:srgbClr val="0F172A"/>
                </a:solidFill>
              </a:rPr>
              <a:t>   • React 19 &amp; TypeScript: </a:t>
            </a:r>
            <a:r>
              <a:rPr sz="800">
                <a:solidFill>
                  <a:srgbClr val="475569"/>
                </a:solidFill>
              </a:rPr>
              <a:t>Component-Driven SOC Dashboard with Zero-Error Type Safety</a:t>
            </a:r>
          </a:p>
        </p:txBody>
      </p:sp>
      <p:sp>
        <p:nvSpPr>
          <p:cNvPr id="17414" name="Rectangle 17413"/>
          <p:cNvSpPr/>
          <p:nvPr/>
        </p:nvSpPr>
        <p:spPr>
          <a:xfrm>
            <a:off x="6675120" y="1051560"/>
            <a:ext cx="4846320" cy="3977639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400"/>
              </a:spcAft>
              <a:defRPr b="1" sz="1050">
                <a:solidFill>
                  <a:srgbClr val="0D5C3A"/>
                </a:solidFill>
              </a:defRPr>
            </a:pPr>
            <a:r>
              <a:t>RESEARCH METHODOLOGY FLOWCHART</a:t>
            </a:r>
          </a:p>
        </p:txBody>
      </p:sp>
      <p:sp>
        <p:nvSpPr>
          <p:cNvPr id="17415" name="Rectangle 17414"/>
          <p:cNvSpPr/>
          <p:nvPr/>
        </p:nvSpPr>
        <p:spPr>
          <a:xfrm>
            <a:off x="6812280" y="1463040"/>
            <a:ext cx="45720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b="1" sz="950">
                <a:solidFill>
                  <a:srgbClr val="0F172A"/>
                </a:solidFill>
              </a:defRPr>
            </a:pPr>
            <a:r>
              <a:t>[1] THEORETICAL FOUNDATIONS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NIST SP 800-82 • RFC Specifications • Shannon Entropy Math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8961120" y="2057400"/>
            <a:ext cx="27432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 b="1">
                <a:solidFill>
                  <a:srgbClr val="EA580C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7417" name="Rectangle 17416"/>
          <p:cNvSpPr/>
          <p:nvPr/>
        </p:nvSpPr>
        <p:spPr>
          <a:xfrm>
            <a:off x="6812280" y="2212848"/>
            <a:ext cx="45720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b="1" sz="950">
                <a:solidFill>
                  <a:srgbClr val="0F172A"/>
                </a:solidFill>
              </a:defRPr>
            </a:pPr>
            <a:r>
              <a:t>[2] SOFTWARE PROTOTYPE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FastAPI Async Engine • Scapy Ingestion • 27-Feature Math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8961120" y="2807208"/>
            <a:ext cx="27432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 b="1">
                <a:solidFill>
                  <a:srgbClr val="EA580C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7419" name="Rectangle 17418"/>
          <p:cNvSpPr/>
          <p:nvPr/>
        </p:nvSpPr>
        <p:spPr>
          <a:xfrm>
            <a:off x="6812280" y="2962656"/>
            <a:ext cx="45720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b="1" sz="950">
                <a:solidFill>
                  <a:srgbClr val="0F172A"/>
                </a:solidFill>
              </a:defRPr>
            </a:pPr>
            <a:r>
              <a:t>[3] PCAP BENCHMARKING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CSE-CIC-IDS2018 • CTU-13 Neris • CIC-IDS2017 Datasets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8961120" y="3557015"/>
            <a:ext cx="27432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 b="1">
                <a:solidFill>
                  <a:srgbClr val="EA580C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7421" name="Rectangle 17420"/>
          <p:cNvSpPr/>
          <p:nvPr/>
        </p:nvSpPr>
        <p:spPr>
          <a:xfrm>
            <a:off x="6812280" y="3712463"/>
            <a:ext cx="4572000" cy="59436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b="1" sz="950">
                <a:solidFill>
                  <a:srgbClr val="EA580C"/>
                </a:solidFill>
              </a:defRPr>
            </a:pPr>
            <a:r>
              <a:t>[4] MODEL VALIDATION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Two-Tier Architecture: HistGradientBoosting + Isolation Forest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8961120" y="4306824"/>
            <a:ext cx="27432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 b="1">
                <a:solidFill>
                  <a:srgbClr val="EA580C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7423" name="Rectangle 17422"/>
          <p:cNvSpPr/>
          <p:nvPr/>
        </p:nvSpPr>
        <p:spPr>
          <a:xfrm>
            <a:off x="6812280" y="4462272"/>
            <a:ext cx="4572000" cy="59436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b="1" sz="950">
                <a:solidFill>
                  <a:srgbClr val="166534"/>
                </a:solidFill>
              </a:defRPr>
            </a:pPr>
            <a:r>
              <a:t>[5] 82.24% REAL AI ACCURACY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2.8% Benign FPR • Zero Cross-Split Capture Leakage</a:t>
            </a:r>
          </a:p>
        </p:txBody>
      </p:sp>
      <p:sp>
        <p:nvSpPr>
          <p:cNvPr id="17424" name="Rectangle 17423"/>
          <p:cNvSpPr/>
          <p:nvPr/>
        </p:nvSpPr>
        <p:spPr>
          <a:xfrm>
            <a:off x="548640" y="5138928"/>
            <a:ext cx="1097280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b="1" sz="900">
                <a:solidFill>
                  <a:srgbClr val="0D5C3A"/>
                </a:solidFill>
              </a:rPr>
              <a:t>EMPIRICALLY BENCHMARKED MULTI-CAPTURE DATASETS:   </a:t>
            </a:r>
            <a:r>
              <a:rPr sz="850">
                <a:solidFill>
                  <a:srgbClr val="0F172A"/>
                </a:solidFill>
              </a:rPr>
              <a:t>[1] CSE-CIC-IDS2018 (LOIC HTTP Flooding)    •    [2] CTU-13 Scenario 1 (Neris IRC Botnet C2)    •    [3] CIC-IDS2017 (Ares Botnet / Recon)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